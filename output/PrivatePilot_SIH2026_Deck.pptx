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84ab8e1f3e4ff7" /><Relationship Type="http://schemas.openxmlformats.org/officeDocument/2006/relationships/extended-properties" Target="/docProps/app.xml" Id="Rc37d4cc7f2994ac3" /><Relationship Type="http://schemas.openxmlformats.org/officeDocument/2006/relationships/officeDocument" Target="/ppt/presentation.xml" Id="R2e085921c8b94e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bebb4698214ae7"/>
  </p:sldMasterIdLst>
  <p:notesMasterIdLst>
    <p:notesMasterId xmlns:r="http://schemas.openxmlformats.org/officeDocument/2006/relationships" r:id="R91a490c7574f4f47"/>
  </p:notesMasterIdLst>
  <p:sldIdLst>
    <p:sldId xmlns:r="http://schemas.openxmlformats.org/officeDocument/2006/relationships" id="256" r:id="R5060c18d6d0747bf"/>
    <p:sldId xmlns:r="http://schemas.openxmlformats.org/officeDocument/2006/relationships" id="257" r:id="R30d91ab60e524e8e"/>
    <p:sldId xmlns:r="http://schemas.openxmlformats.org/officeDocument/2006/relationships" id="258" r:id="R5c0bc43aa966487e"/>
    <p:sldId xmlns:r="http://schemas.openxmlformats.org/officeDocument/2006/relationships" id="259" r:id="Rf6f53dff44474394"/>
    <p:sldId xmlns:r="http://schemas.openxmlformats.org/officeDocument/2006/relationships" id="260" r:id="R97fe4d998bb4483e"/>
    <p:sldId xmlns:r="http://schemas.openxmlformats.org/officeDocument/2006/relationships" id="261" r:id="R9e2e712bb00248d1"/>
    <p:sldId xmlns:r="http://schemas.openxmlformats.org/officeDocument/2006/relationships" id="262" r:id="R977ddf1be2a848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6256fc236540e5" /><Relationship Type="http://schemas.openxmlformats.org/officeDocument/2006/relationships/slideMaster" Target="/ppt/slideMasters/slideMaster1.xml" Id="R45bebb4698214ae7" /><Relationship Type="http://schemas.openxmlformats.org/officeDocument/2006/relationships/notesMaster" Target="/ppt/notesMasters/notesMaster1.xml" Id="R91a490c7574f4f47" /><Relationship Type="http://schemas.openxmlformats.org/officeDocument/2006/relationships/presProps" Target="/ppt/presProps.xml" Id="Ra800364402964f04" /><Relationship Type="http://schemas.openxmlformats.org/officeDocument/2006/relationships/tableStyles" Target="/ppt/tableStyles.xml" Id="Rdea58126b49347be" /><Relationship Type="http://schemas.openxmlformats.org/officeDocument/2006/relationships/slide" Target="/ppt/slides/slide1.xml" Id="R5060c18d6d0747bf" /><Relationship Type="http://schemas.openxmlformats.org/officeDocument/2006/relationships/slide" Target="/ppt/slides/slide2.xml" Id="R30d91ab60e524e8e" /><Relationship Type="http://schemas.openxmlformats.org/officeDocument/2006/relationships/slide" Target="/ppt/slides/slide3.xml" Id="R5c0bc43aa966487e" /><Relationship Type="http://schemas.openxmlformats.org/officeDocument/2006/relationships/slide" Target="/ppt/slides/slide4.xml" Id="Rf6f53dff44474394" /><Relationship Type="http://schemas.openxmlformats.org/officeDocument/2006/relationships/slide" Target="/ppt/slides/slide5.xml" Id="R97fe4d998bb4483e" /><Relationship Type="http://schemas.openxmlformats.org/officeDocument/2006/relationships/slide" Target="/ppt/slides/slide6.xml" Id="R9e2e712bb00248d1" /><Relationship Type="http://schemas.openxmlformats.org/officeDocument/2006/relationships/slide" Target="/ppt/slides/slide7.xml" Id="R977ddf1be2a848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7abaa0354740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844c8ed10a4622" /><Relationship Type="http://schemas.openxmlformats.org/officeDocument/2006/relationships/notesMaster" Target="/ppt/notesMasters/notesMaster1.xml" Id="R402b1a9a867a4f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ccdb1dfd7049ec" /><Relationship Type="http://schemas.openxmlformats.org/officeDocument/2006/relationships/notesMaster" Target="/ppt/notesMasters/notesMaster1.xml" Id="Rd0c4bc4776a743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fbc98b32bb424f" /><Relationship Type="http://schemas.openxmlformats.org/officeDocument/2006/relationships/notesMaster" Target="/ppt/notesMasters/notesMaster1.xml" Id="Rcbaf26f6790640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5e5cf78f244c80" /><Relationship Type="http://schemas.openxmlformats.org/officeDocument/2006/relationships/notesMaster" Target="/ppt/notesMasters/notesMaster1.xml" Id="Rd796acccede44e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9b0a274d5a459b" /><Relationship Type="http://schemas.openxmlformats.org/officeDocument/2006/relationships/notesMaster" Target="/ppt/notesMasters/notesMaster1.xml" Id="Rab718b230b8b46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4e2d2fa5e44fb1" /><Relationship Type="http://schemas.openxmlformats.org/officeDocument/2006/relationships/notesMaster" Target="/ppt/notesMasters/notesMaster1.xml" Id="Rb84d23e7874042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c08d35818e439b" /><Relationship Type="http://schemas.openxmlformats.org/officeDocument/2006/relationships/notesMaster" Target="/ppt/notesMasters/notesMaster1.xml" Id="R950ec440c20647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problem: browser assistants can use what a signed-in user can see. PrivatePilot is the proposed local privacy layer.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SIH26171 problem statement supplied by the presenter.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shift from chat to page-aware browser assistance. The table deliberately reports only public, verifiable availability facts.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Claude in Chrome: https://support.claude.com/en/articles/12012173-get-started-with-claude-in-chrome</a:t>
            </a:r>
          </a:p>
          <a:p xmlns:a="http://schemas.openxmlformats.org/drawingml/2006/main">
            <a:r>
              <a:t>Perplexity Comet: https://www.perplexity.ai/help-center/en/articles/11172798-getting-started-with-comet</a:t>
            </a:r>
          </a:p>
          <a:p xmlns:a="http://schemas.openxmlformats.org/drawingml/2006/main">
            <a:r>
              <a:t>OpenAI ChatGPT agent: https://help.openai.com/en/articles/11752874</a:t>
            </a:r>
          </a:p>
          <a:p xmlns:a="http://schemas.openxmlformats.org/drawingml/2006/main">
            <a:r>
              <a:t>Google Project Mariner: https://blog.google/technology/google-deepmind/project-mariner/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Switch to Comet. Visit a public article and ask the assistant to summarise the page. Return to this slide after the live response.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Perplexity Comet overview: https://www.perplexity.ai/comet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Register using dummy data, sign in, and ask the browser assistant to help answer the application question. Then ask which name is visible. State clearly: the assistant did not hack the database. It read the signed-in page after the user gave it access.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Demo website: https://private-pilot-testing.vercel.app/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proposed architecture. PrivatePilot detects sensitive content locally, replaces identifiers with placeholders, then sends only safe context for external reasoning. Encryption protects the channel; redaction protects the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claim that no other solution exists. Explain the gap: browser settings, provider safeguards, and DLP tools cover different parts of the problem. PrivatePilot proposes a lightweight local layer for the AI context.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OpenAI browser page visibility settings: https://help.openai.com/en/articles/12625059-web-browsing-settings-on-chatgpt-atlas</a:t>
            </a:r>
          </a:p>
          <a:p xmlns:a="http://schemas.openxmlformats.org/drawingml/2006/main">
            <a:r>
              <a:t>Claude in Chrome safety information: https://support.claude.com/en/articles/12012173-get-started-with-claude-in-chrome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central principle: people should be able to use browser AI without needlessly exposing their private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bd797df4540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2a71c00a7b4dd2" /><Relationship Type="http://schemas.openxmlformats.org/officeDocument/2006/relationships/slideLayout" Target="/ppt/slideLayouts/slideLayout1.xml" Id="R05c4da33d8e442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c4da33d8e442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177eeaf064ec6" /><Relationship Type="http://schemas.openxmlformats.org/officeDocument/2006/relationships/image" Target="/ppt/media/image.png" Id="R03e4a180da6a4524" /><Relationship Type="http://schemas.openxmlformats.org/officeDocument/2006/relationships/notesSlide" Target="/ppt/notesSlides/notesSlide1.xml" Id="R1d253512993c4d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ff9162e034ea5" /><Relationship Type="http://schemas.openxmlformats.org/officeDocument/2006/relationships/notesSlide" Target="/ppt/notesSlides/notesSlide2.xml" Id="R15852d4a268141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43cad7340457f" /><Relationship Type="http://schemas.openxmlformats.org/officeDocument/2006/relationships/notesSlide" Target="/ppt/notesSlides/notesSlide3.xml" Id="Re6757379d2f842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6d48623d14650" /><Relationship Type="http://schemas.openxmlformats.org/officeDocument/2006/relationships/notesSlide" Target="/ppt/notesSlides/notesSlide4.xml" Id="R6d66053abbc540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11563539741cf" /><Relationship Type="http://schemas.openxmlformats.org/officeDocument/2006/relationships/notesSlide" Target="/ppt/notesSlides/notesSlide5.xml" Id="R5721e133dc9d4b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dfe5fbf7b498f" /><Relationship Type="http://schemas.openxmlformats.org/officeDocument/2006/relationships/notesSlide" Target="/ppt/notesSlides/notesSlide6.xml" Id="R5a27a30c34e345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fe7cacb104875" /><Relationship Type="http://schemas.openxmlformats.org/officeDocument/2006/relationships/image" Target="/ppt/media/image2.png" Id="R6a524a91aea04adc" /><Relationship Type="http://schemas.openxmlformats.org/officeDocument/2006/relationships/notesSlide" Target="/ppt/notesSlides/notesSlide7.xml" Id="Reddb8eb226cf49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4a180da6a452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54016-7253-4D57-AE42-B695EF50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28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PRIVACY FOR BROWSER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D3E10-9762-42CC-8E0F-8C935ACE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04813" cy="452438"/>
          </a:xfrm>
          <a:prstGeom xmlns:a="http://schemas.openxmlformats.org/drawingml/2006/main" prst="roundRect">
            <a:avLst>
              <a:gd name="adj" fmla="val 14118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102B2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FD5E3-B966-438E-A8F6-A0DBBB01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44" y="166687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5150"/>
          </a:bodyPr>
          <a:lstStyle xmlns:a="http://schemas.openxmlformats.org/drawingml/2006/main"/>
          <a:p xmlns:a="http://schemas.openxmlformats.org/drawingml/2006/main">
            <a:pPr algn="ctr">
              <a:defRPr sz="1594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594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066D5-AEBE-4149-8E94-15B07318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85900"/>
            <a:ext cx="666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85"/>
          </a:bodyPr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540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PrivatePilot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CACCD-F009-4C64-B592-43F2688C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A privacy shield for AI-powered browser assistance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890AC-5884-4734-93F6-2A6A9DE8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2291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BC18D-4759-46EA-9B21-1093D51D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As AI assistants work inside browsers, private information visible on a webpage can become part of AI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2C77D-2DEB-4E5D-93B9-7E1345E0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SIH 2026  ·  ISRO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884A5-D7F8-4735-8E0C-8D0DE1F2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SIH26171  ·  On-device Visual Perception for Light-weight Browser Agents</a:t>
            </a:r>
          </a:p>
        </p:txBody>
      </p:sp>
    </p:spTree>
    <p:extLst>
      <p:ext uri="{BB962C8B-B14F-4D97-AF65-F5344CB8AC3E}">
        <p14:creationId xmlns:p14="http://schemas.microsoft.com/office/powerpoint/2010/main" val="17750366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45BDBC-CD53-47B2-B88C-3CA66A5D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23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CDA04-E80A-41C9-87A9-D5F64280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AI is moving from chat to the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7364A-22EE-4AFB-A0EC-67632820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Browser assistants can understand the page a user is viewing.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4B47E-A8E9-438D-8BCE-760DEC25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80150-7DD3-40C5-8805-CCCA071E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266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3DDB4-4F1D-4164-81AA-44516F8F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02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Chatbots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D4700-62FE-4BFB-BE2A-7465610A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Answer questions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9DD2A-59CF-49D5-929F-28B39DCE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3840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5F072-CF37-4BAE-9474-853D73A0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00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51B60-3E9C-4A8A-A856-28B74190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38350"/>
            <a:ext cx="2266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11314-224A-427F-88E9-DD29BB2C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002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AI copilots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1994C-7F21-4E36-949A-F82412D9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47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Work beside 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8692CC-9D24-48DE-B5AF-BBC064BA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3840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00AC1-2BE7-4B98-951C-2C050872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400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1327B-24E3-4639-A736-97A6679C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2266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22164-B6C1-46A3-9B4B-7B9AF7C8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02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AI-first browsers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AB566-CCF3-4742-9BF3-11EAD789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47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Understand tabs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CDF54-5774-4A39-B3A7-56B9C8F7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3840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B49AF7-EE82-41DA-94E4-D1991D5B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400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EA6C8-5775-4425-BA6B-99246AB8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2266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102B2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E39CD6-6087-42CD-9C31-A3228CA8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002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Browser agents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9735F7-BFB0-42A5-A0E9-579D5F09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47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CEFE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CEFED"/>
                </a:solidFill>
                <a:latin typeface="Aptos"/>
                <a:ea typeface="Aptos"/>
                <a:cs typeface="Aptos"/>
              </a:rPr>
              <a:t>Act on webpages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BA4AD7-31C2-406D-8B08-2CBF32FB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Evidence of growing browser-agent adoption</a:t>
            </a:r>
          </a:p>
        </p:txBody>
      </p:sp>
      <p:graphicFrame>
        <p:nvGraphicFramePr>
          <p:cNvPr id="49" name=""/>
          <p:cNvGraphicFramePr/>
          <p:nvPr/>
        </p:nvGraphicFramePr>
        <p:xfrm>
          <a:off xmlns:a="http://schemas.openxmlformats.org/drawingml/2006/main" x="685800" y="3486150"/>
          <a:ext xmlns:a="http://schemas.openxmlformats.org/drawingml/2006/main" cx="10820400" cy="20764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38375"/>
                <a:gridCol w="3238500"/>
                <a:gridCol w="2857500"/>
                <a:gridCol w="2486025"/>
              </a:tblGrid>
              <a:tr h="41529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Product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availability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Public adoption metric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Source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Claude in Chrome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Paid plans and Chrome side-panel beta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Not publicly disclosed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Anthropic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Perplexity Comet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Mac, Windows, iOS and Android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Not publicly disclosed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Perplexity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ChatGPT browser workflows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Availability varies by product and plan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Not publicly disclosed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OpenAI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Google Project Mariner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Research prototype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Not publicly disclosed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Google DeepMind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1DB836-2592-457D-879C-16D7A13A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Useful assistants read page context. PrivatePilot focuses on the privacy of that context.</a:t>
            </a:r>
          </a:p>
        </p:txBody>
      </p:sp>
    </p:spTree>
    <p:extLst>
      <p:ext uri="{BB962C8B-B14F-4D97-AF65-F5344CB8AC3E}">
        <p14:creationId xmlns:p14="http://schemas.microsoft.com/office/powerpoint/2010/main" val="2191404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CBC723-4D26-4F0D-B4FC-E68D2377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276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82D54-F973-471C-A5C0-4ACD6D74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Helpful browser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366B2-1C47-4B35-956B-86B63742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A browser assistant can work with the active page without manual copy and paste.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5654B-F355-40EA-84EB-1923B4B6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D31D5-6277-400E-A49F-DB0B901C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372350" cy="37909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72FA3-C9E6-4D00-9B14-B13B0F08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3723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6BC37-014C-45E6-A2ED-96AD9A8C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2835"/>
          </a:solidFill>
          <a:ln xmlns:a="http://schemas.openxmlformats.org/drawingml/2006/main" w="0">
            <a:solidFill>
              <a:srgbClr val="70283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2B7EC-72EE-47B1-A77A-32549959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652D"/>
          </a:solidFill>
          <a:ln xmlns:a="http://schemas.openxmlformats.org/drawingml/2006/main" w="0">
            <a:solidFill>
              <a:srgbClr val="C765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A9917-BBFE-47B8-9426-F39FA078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D4135-6F43-4068-9B7F-3C9686FD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1455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A long public article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16ADD-F979-4F37-8AE0-12F23483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How AI browsers are changing 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D556D-E847-4C06-BCC5-2D03348A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600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DD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0E8D6-CD14-4367-817F-4D100A32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14725"/>
            <a:ext cx="5334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DD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87CC9-1133-4E12-9D77-97494262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600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DD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AC497-826F-4B9E-867A-73B79AFB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67175"/>
            <a:ext cx="5334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DD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D14E9-0690-439D-BB33-25332F65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600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DD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C28C23-236C-4E72-B54A-F47D073E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5334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DD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8D3FB-E09E-42A9-BE53-7E66F66F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3162300" cy="37909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102B2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63D6A-C7B4-462A-975C-230D1C57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622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D6D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8D6D1"/>
                </a:solidFill>
                <a:latin typeface="Aptos"/>
                <a:ea typeface="Aptos"/>
                <a:cs typeface="Aptos"/>
              </a:rPr>
              <a:t>COMET ASSISTANT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B5EA4D-631B-411B-9C88-E95F5E7A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6702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25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Summarise this page in three points.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E935B8-D6D3-4355-8CBD-EAE5B588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625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45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CEFE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CEFED"/>
                </a:solidFill>
                <a:latin typeface="Aptos"/>
                <a:ea typeface="Aptos"/>
                <a:cs typeface="Aptos"/>
              </a:rPr>
              <a:t>The assistant reads the active article and returns a short summary.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451614-910F-43ED-8DBA-8AA1D5DE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48250"/>
            <a:ext cx="1771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25"/>
                </a:solidFill>
                <a:latin typeface="Aptos"/>
                <a:ea typeface="Aptos"/>
                <a:cs typeface="Aptos"/>
              </a:rPr>
              <a:t>ASK COMET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65A39C-102E-47FA-85B4-969860CC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4763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DEMONSTRATION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FA11D8-2F49-4495-98C9-5697893B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60198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Open Comet, visit a long public article, then ask for a three-point summary.</a:t>
            </a:r>
          </a:p>
        </p:txBody>
      </p:sp>
    </p:spTree>
    <p:extLst>
      <p:ext uri="{BB962C8B-B14F-4D97-AF65-F5344CB8AC3E}">
        <p14:creationId xmlns:p14="http://schemas.microsoft.com/office/powerpoint/2010/main" val="4884175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8D3212-3A26-4D68-87C6-5D13DF1A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276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908F2-E693-44C6-B42B-13AC97C2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When helpful context becomes sensitive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56389-48A1-4A56-93F0-C71CC36F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The demonstration uses an authenticated dashboard and fictional data only.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F2A16-5CA0-4DB2-9230-FD6BF07E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02BE2-BE03-4096-981D-444E11D3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61975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CC6AB-1DDF-4407-B8BA-F8A111C9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619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72775-AA44-42C1-9F81-E7A5C4FE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2835"/>
          </a:solidFill>
          <a:ln xmlns:a="http://schemas.openxmlformats.org/drawingml/2006/main" w="0">
            <a:solidFill>
              <a:srgbClr val="70283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BE8E8-4811-4807-A767-E8A14FF1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652D"/>
          </a:solidFill>
          <a:ln xmlns:a="http://schemas.openxmlformats.org/drawingml/2006/main" w="0">
            <a:solidFill>
              <a:srgbClr val="C765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5D839-2CF9-4C43-AFB0-A879657D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24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B6FF2-AA3B-43EC-99E8-96AEEC2E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76450"/>
            <a:ext cx="470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PrivatePilot Testing · Private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95FCC-A027-4D39-AE2B-C980C3F6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79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Your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5A82C-BD8F-4633-B5D3-1D848A4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527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Full name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84E49-8545-414F-84B8-2A582AD9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57525"/>
            <a:ext cx="28575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599B1-1620-4928-ACED-39D16A25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432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Aarav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E94D3-8714-4627-85F3-EB0F0277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238AB-64F7-44F0-AE55-328D67CE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19500"/>
            <a:ext cx="28575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AD110-D8F6-4021-8B44-2341294F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052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5562D-AD51-4B78-9E52-D0B83023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767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Demo account number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546F50-3177-41BD-B72B-5E24CF5A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81475"/>
            <a:ext cx="28575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EDEF"/>
          </a:solidFill>
          <a:ln xmlns:a="http://schemas.openxmlformats.org/drawingml/2006/main" w="9525">
            <a:solidFill>
              <a:srgbClr val="7028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44F713-F6ED-438D-AEC0-33C53F40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67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28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02835"/>
                </a:solidFill>
                <a:latin typeface="Aptos"/>
                <a:ea typeface="Aptos"/>
                <a:cs typeface="Aptos"/>
              </a:rPr>
              <a:t>123456789012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FE2676-DE09-4E41-86C4-F077E0EF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863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Why should we hire you?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A392A-558E-4D11-9A07-9A09B195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62550"/>
            <a:ext cx="46863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E73C54-6EAA-4DD9-8FAF-07EF0F3A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959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102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I enjoy solving real problems with thoughtful technology.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858995-5E42-451D-9183-B045BA8A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05250"/>
            <a:ext cx="695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4A0AAF-CB54-4790-AA3A-A71CA14A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B3AB66-B554-48EE-B739-A064E3F8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57425"/>
            <a:ext cx="4095750" cy="3305175"/>
          </a:xfrm>
          <a:prstGeom xmlns:a="http://schemas.openxmlformats.org/drawingml/2006/main" prst="roundRect">
            <a:avLst>
              <a:gd name="adj" fmla="val 4611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04473A-4A7A-4823-A53C-73751AC1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BROWSER AI ASSISTANT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CB92E4-2666-40C8-A5CA-AB78DCF4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308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667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Help me answer “Why should we hire you?”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0E41E8-F339-43E5-90D6-69DFC378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9095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When the assistant receives active-page access, the visible profile can become part of its context.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52797D-B9EE-4AF7-BA83-77CCC976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19650"/>
            <a:ext cx="2190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2835"/>
          </a:solidFill>
          <a:ln xmlns:a="http://schemas.openxmlformats.org/drawingml/2006/main" w="0">
            <a:solidFill>
              <a:srgbClr val="70283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ACTIVE PAGE ACCESS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41A6C4-CA0F-4BB1-85C7-72401110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Demo flow: sign in  •  ask for writing help  •  ask “What name is visible on this page?”</a:t>
            </a:r>
          </a:p>
        </p:txBody>
      </p:sp>
    </p:spTree>
    <p:extLst>
      <p:ext uri="{BB962C8B-B14F-4D97-AF65-F5344CB8AC3E}">
        <p14:creationId xmlns:p14="http://schemas.microsoft.com/office/powerpoint/2010/main" val="20946825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ABD9D4-3AC6-4967-A763-7C34D392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85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CAB61-3906-456B-ACB9-D06214CD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PrivatePilot: privacy before AI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6F395-3522-4853-BE1C-97DE42C0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Local analysis creates a safe page representation before cloud reasoning begins.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30577-554B-4D0B-9694-AE734F57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302F4-C3CC-4F03-8BC2-FCB1B7B3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714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73979-8FEA-4410-9C47-4F7FDB54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Logged-in</a:t>
            </a:r>
          </a:p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webpage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6EC07-E9A9-4FBA-9628-E12E423C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622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A98C5-86F5-48F8-94AB-9F0821DF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196C0-BC41-4111-9B5E-F556E99F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66950"/>
            <a:ext cx="1714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3BE9F-BF42-41CB-A297-591540AB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527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Local PII</a:t>
            </a:r>
          </a:p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detection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13A3F-BAEA-4E90-B1C4-60F59F55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622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638C6-2087-4AFA-9ED8-17481C42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2DAD0-A4ED-4C09-ADE0-7CC54CAE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66950"/>
            <a:ext cx="1714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102B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35541-47E3-40F0-A49D-6563CADE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527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Redaction and</a:t>
            </a:r>
          </a:p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replacement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D0D3D-5152-46AF-A757-6696E481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622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E322F-ADEB-46B9-8602-C56DF938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24FF1-0DEC-4D5C-AC44-11BB9EF2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66950"/>
            <a:ext cx="1714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79D7F-A371-446E-831E-E66F4DBB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527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Safe context</a:t>
            </a:r>
          </a:p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to cloud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027D9E-3892-41F6-A7F1-04CA5A7F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622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0F3043-BBE1-43C7-B069-4BEEE432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750D5A-5282-45E3-B895-6C477858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1714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1B8B6D-226E-47C0-8DA3-23837E1C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527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Helpful AI</a:t>
            </a:r>
          </a:p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632E2F-5CDB-4EDC-9099-867BA806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Before local protection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461D5F-E9A6-4B45-9AB2-E4961B73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0283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702835"/>
                </a:solidFill>
                <a:latin typeface="Aptos"/>
                <a:ea typeface="Aptos"/>
                <a:cs typeface="Aptos"/>
              </a:rPr>
              <a:t>Name: Adnan Khan</a:t>
            </a:r>
          </a:p>
          <a:p xmlns:a="http://schemas.openxmlformats.org/drawingml/2006/main">
            <a:pPr algn="l">
              <a:defRPr sz="1425" b="1" i="0">
                <a:solidFill>
                  <a:srgbClr val="70283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702835"/>
                </a:solidFill>
                <a:latin typeface="Aptos"/>
                <a:ea typeface="Aptos"/>
                <a:cs typeface="Aptos"/>
              </a:rPr>
              <a:t>Account: 123456789012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9A203F-5C10-4841-8FF8-4884CBA2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9050"/>
            <a:ext cx="2381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9525">
            <a:solidFill>
              <a:srgbClr val="1697A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96CE29-717E-4EA9-A720-246C4119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76700"/>
            <a:ext cx="275273" cy="307658"/>
          </a:xfrm>
          <a:prstGeom xmlns:a="http://schemas.openxmlformats.org/drawingml/2006/main" prst="roundRect">
            <a:avLst>
              <a:gd name="adj" fmla="val 2076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102B2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FACF35-A135-4DE8-8969-308B0660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174" y="414147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084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084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0D44C5-7858-4590-964C-CE51BC3E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195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LOCAL REDACTION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345EA9-612B-47A4-AEA7-77990420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576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TLS encrypted channel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FD9271-9728-4FF0-8969-C268DB7A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14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Safe AI context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8DD4EE-122D-4964-84E9-CBEADCAF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386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Name: PERSON_1</a:t>
            </a:r>
          </a:p>
          <a:p xmlns:a="http://schemas.openxmlformats.org/drawingml/2006/main">
            <a:pPr algn="l">
              <a:defRPr sz="1425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Account: ACCOUNT_1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9085EF-8020-4A55-85F2-5C125E7C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PrivatePilot preserves AI usefulness while personal values remain inside the browser.</a:t>
            </a:r>
          </a:p>
        </p:txBody>
      </p:sp>
    </p:spTree>
    <p:extLst>
      <p:ext uri="{BB962C8B-B14F-4D97-AF65-F5344CB8AC3E}">
        <p14:creationId xmlns:p14="http://schemas.microsoft.com/office/powerpoint/2010/main" val="16636531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44D41-65D1-42F8-9E3A-DFA57C68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276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99F9E-1275-42B1-B190-8DA88A17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Current controls do not solve the complete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8CDD9-563C-4968-90F5-E9A2CE0C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Existing controls address parts of the risk. PrivatePilot focuses on the page context itself.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91EA1-82F6-462A-86EE-259CB426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2714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71750"/>
                <a:gridCol w="3381375"/>
                <a:gridCol w="4867275"/>
              </a:tblGrid>
              <a:tr h="5429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Approach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it protects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Limitation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Browser privacy settings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Cookies, camera, and location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Do not redact page content before AI analysis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AI-provider safety controls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Some sensitive-site safeguards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Depend on each AI provider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Enterprise DLP tools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Organisation-level data controls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Often do not target dynamic browser-agent context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2B25"/>
                          </a:solidFill>
                          <a:latin typeface="Aptos"/>
                          <a:ea typeface="Aptos"/>
                          <a:cs typeface="Aptos"/>
                        </a:rPr>
                        <a:t>PrivatePilot</a:t>
                      </a:r>
                    </a:p>
                  </a:txBody>
                  <a:tcPr marL="91440" marR="91440" marT="45720" marB="45720">
                    <a:solidFill>
                      <a:srgbClr val="DC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2B25"/>
                          </a:solidFill>
                          <a:latin typeface="Aptos"/>
                          <a:ea typeface="Aptos"/>
                          <a:cs typeface="Aptos"/>
                        </a:rPr>
                        <a:t>Local detection and redaction before AI receives context</a:t>
                      </a:r>
                    </a:p>
                  </a:txBody>
                  <a:tcPr marL="91440" marR="91440" marT="45720" marB="45720">
                    <a:solidFill>
                      <a:srgbClr val="DC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2B25"/>
                          </a:solidFill>
                          <a:latin typeface="Aptos"/>
                          <a:ea typeface="Aptos"/>
                          <a:cs typeface="Aptos"/>
                        </a:rPr>
                        <a:t>Proposed lightweight browser-agent privacy layer</a:t>
                      </a:r>
                    </a:p>
                  </a:txBody>
                  <a:tcPr marL="91440" marR="91440" marT="45720" marB="45720">
                    <a:solidFill>
                      <a:srgbClr val="DCEF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26057-3195-402A-B7D5-6A700BB0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67350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146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Existing protections are fragmented. PrivatePilot focuses on dynamic private data visible to browser AI agents.</a:t>
            </a:r>
          </a:p>
        </p:txBody>
      </p:sp>
    </p:spTree>
    <p:extLst>
      <p:ext uri="{BB962C8B-B14F-4D97-AF65-F5344CB8AC3E}">
        <p14:creationId xmlns:p14="http://schemas.microsoft.com/office/powerpoint/2010/main" val="7891318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24a91aea04ad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B3744-F221-4C8A-80A6-1BE69428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372427" cy="416242"/>
          </a:xfrm>
          <a:prstGeom xmlns:a="http://schemas.openxmlformats.org/drawingml/2006/main" prst="roundRect">
            <a:avLst>
              <a:gd name="adj" fmla="val 1534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102B2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CD4CB-EA35-41A3-A191-189F9BD9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576" y="119253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4912"/>
          </a:bodyPr>
          <a:lstStyle xmlns:a="http://schemas.openxmlformats.org/drawingml/2006/main"/>
          <a:p xmlns:a="http://schemas.openxmlformats.org/drawingml/2006/main">
            <a:pPr algn="ctr">
              <a:defRPr sz="1466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466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4A92E-10CC-49F4-B5F1-70B1327B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57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71"/>
          </a:bodyPr>
          <a:lstStyle xmlns:a="http://schemas.openxmlformats.org/drawingml/2006/main"/>
          <a:p xmlns:a="http://schemas.openxmlformats.org/drawingml/2006/main">
            <a:pPr algn="l">
              <a:defRPr sz="52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52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PrivatePilot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10E23-068C-4022-A61C-6E79D289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Helpful AI should not require exposing private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9B90E-E2E6-4D86-B9E1-360CE26F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37528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D3782-E7A4-444B-88CF-AAA301A8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40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40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Thank You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2E7F0-DA75-4306-BADA-AF7CC4C5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447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7998554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2026-09-12T06:22:03.4310000Z</dcterms:created>
  <dcterms:modified xsi:type="dcterms:W3CDTF">2026-09-12T06:22:03.4310000Z</dcterms:modified>
</coreProperties>
</file>