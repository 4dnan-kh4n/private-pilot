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92762adc49449c" /><Relationship Type="http://schemas.openxmlformats.org/officeDocument/2006/relationships/extended-properties" Target="/docProps/app.xml" Id="Rb4d731f757354c73" /><Relationship Type="http://schemas.openxmlformats.org/officeDocument/2006/relationships/officeDocument" Target="/ppt/presentation.xml" Id="R53ac9388d0ee4e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00719eaaa6424f"/>
  </p:sldMasterIdLst>
  <p:notesMasterIdLst>
    <p:notesMasterId xmlns:r="http://schemas.openxmlformats.org/officeDocument/2006/relationships" r:id="R06875ea019464c56"/>
  </p:notesMasterIdLst>
  <p:sldIdLst>
    <p:sldId xmlns:r="http://schemas.openxmlformats.org/officeDocument/2006/relationships" id="256" r:id="Rda307f59fa4244ff"/>
    <p:sldId xmlns:r="http://schemas.openxmlformats.org/officeDocument/2006/relationships" id="257" r:id="R9a80d68376304f7d"/>
    <p:sldId xmlns:r="http://schemas.openxmlformats.org/officeDocument/2006/relationships" id="258" r:id="Rdad05f477e8c4a1f"/>
    <p:sldId xmlns:r="http://schemas.openxmlformats.org/officeDocument/2006/relationships" id="259" r:id="R85faaa07ad6147b2"/>
    <p:sldId xmlns:r="http://schemas.openxmlformats.org/officeDocument/2006/relationships" id="260" r:id="R093cf3d01bb942fb"/>
    <p:sldId xmlns:r="http://schemas.openxmlformats.org/officeDocument/2006/relationships" id="261" r:id="R87205d3bf7184caa"/>
    <p:sldId xmlns:r="http://schemas.openxmlformats.org/officeDocument/2006/relationships" id="262" r:id="R4d000af7909e43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4038a73c45413f" /><Relationship Type="http://schemas.openxmlformats.org/officeDocument/2006/relationships/slideMaster" Target="/ppt/slideMasters/slideMaster1.xml" Id="R6c00719eaaa6424f" /><Relationship Type="http://schemas.openxmlformats.org/officeDocument/2006/relationships/notesMaster" Target="/ppt/notesMasters/notesMaster1.xml" Id="R06875ea019464c56" /><Relationship Type="http://schemas.openxmlformats.org/officeDocument/2006/relationships/presProps" Target="/ppt/presProps.xml" Id="R0c690fc9bf4b4aad" /><Relationship Type="http://schemas.openxmlformats.org/officeDocument/2006/relationships/tableStyles" Target="/ppt/tableStyles.xml" Id="Rf52a56a98b514597" /><Relationship Type="http://schemas.openxmlformats.org/officeDocument/2006/relationships/slide" Target="/ppt/slides/slide1.xml" Id="Rda307f59fa4244ff" /><Relationship Type="http://schemas.openxmlformats.org/officeDocument/2006/relationships/slide" Target="/ppt/slides/slide2.xml" Id="R9a80d68376304f7d" /><Relationship Type="http://schemas.openxmlformats.org/officeDocument/2006/relationships/slide" Target="/ppt/slides/slide3.xml" Id="Rdad05f477e8c4a1f" /><Relationship Type="http://schemas.openxmlformats.org/officeDocument/2006/relationships/slide" Target="/ppt/slides/slide4.xml" Id="R85faaa07ad6147b2" /><Relationship Type="http://schemas.openxmlformats.org/officeDocument/2006/relationships/slide" Target="/ppt/slides/slide5.xml" Id="R093cf3d01bb942fb" /><Relationship Type="http://schemas.openxmlformats.org/officeDocument/2006/relationships/slide" Target="/ppt/slides/slide6.xml" Id="R87205d3bf7184caa" /><Relationship Type="http://schemas.openxmlformats.org/officeDocument/2006/relationships/slide" Target="/ppt/slides/slide7.xml" Id="R4d000af7909e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0fd4d551a944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e81dde829c40b0" /><Relationship Type="http://schemas.openxmlformats.org/officeDocument/2006/relationships/notesMaster" Target="/ppt/notesMasters/notesMaster1.xml" Id="Ra7480f2dbca343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edd2ae4c6c4733" /><Relationship Type="http://schemas.openxmlformats.org/officeDocument/2006/relationships/notesMaster" Target="/ppt/notesMasters/notesMaster1.xml" Id="R5da20a329cb741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132058caef4c13" /><Relationship Type="http://schemas.openxmlformats.org/officeDocument/2006/relationships/notesMaster" Target="/ppt/notesMasters/notesMaster1.xml" Id="R6f6444027b704f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d84d7cd06453d" /><Relationship Type="http://schemas.openxmlformats.org/officeDocument/2006/relationships/notesMaster" Target="/ppt/notesMasters/notesMaster1.xml" Id="R2c7235f40cf74b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04ac3d817448ca" /><Relationship Type="http://schemas.openxmlformats.org/officeDocument/2006/relationships/notesMaster" Target="/ppt/notesMasters/notesMaster1.xml" Id="R5ddaaa8a26d241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35641d0e0e4980" /><Relationship Type="http://schemas.openxmlformats.org/officeDocument/2006/relationships/notesMaster" Target="/ppt/notesMasters/notesMaster1.xml" Id="Reeefa62961e54f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588f864dd04ac4" /><Relationship Type="http://schemas.openxmlformats.org/officeDocument/2006/relationships/notesMaster" Target="/ppt/notesMasters/notesMaster1.xml" Id="R646f2f1dce9d47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problem: browser assistants can use what a signed-in user can see. PrivatePilot is the proposed local privacy layer.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SIH26171 problem statement supplied by the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shift from chat to page-aware browser assistance. The table deliberately reports only public, verifiable availability facts.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Claude in Chrome: https://support.claude.com/en/articles/12012173-get-started-with-claude-in-chrome</a:t>
            </a:r>
          </a:p>
          <a:p xmlns:a="http://schemas.openxmlformats.org/drawingml/2006/main">
            <a:r>
              <a:t>Perplexity Comet: https://www.perplexity.ai/help-center/en/articles/11172798-getting-started-with-comet</a:t>
            </a:r>
          </a:p>
          <a:p xmlns:a="http://schemas.openxmlformats.org/drawingml/2006/main">
            <a:r>
              <a:t>OpenAI ChatGPT agent: https://help.openai.com/en/articles/11752874</a:t>
            </a:r>
          </a:p>
          <a:p xmlns:a="http://schemas.openxmlformats.org/drawingml/2006/main">
            <a:r>
              <a:t>Google Project Mariner: https://blog.google/technology/google-deepmind/project-mariner/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Comet. Visit a public article and ask the assistant to summarise the page. Return to this slide after the live response.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Perplexity Comet overview: https://www.perplexity.ai/comet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Register using dummy data, sign in, and ask the browser assistant to help answer the application question. Then ask which name is visible. State clearly: the assistant did not hack the database. It read the signed-in page after the user gave it access.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Demo website: https://private-pilot-testing.vercel.app/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proposed architecture. PrivatePilot detects sensitive content locally, replaces identifiers with placeholders, then sends only safe context for external reasoning. Encryption protects the channel; redaction protects the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that no other solution exists. Explain the gap: browser settings, provider safeguards, and DLP tools cover different parts of the problem. PrivatePilot proposes a lightweight local layer for the AI context.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OpenAI browser page visibility settings: https://help.openai.com/en/articles/12625059-web-browsing-settings-on-chatgpt-atlas</a:t>
            </a:r>
          </a:p>
          <a:p xmlns:a="http://schemas.openxmlformats.org/drawingml/2006/main">
            <a:r>
              <a:t>Claude in Chrome safety information: https://support.claude.com/en/articles/12012173-get-started-with-claude-in-chrome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central principle: people should be able to use browser AI without needlessly exposing their private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a0867cddb4f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09e450a94e42fa" /><Relationship Type="http://schemas.openxmlformats.org/officeDocument/2006/relationships/slideLayout" Target="/ppt/slideLayouts/slideLayout1.xml" Id="Ra6d08334a56b42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08334a56b42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f91ea71a54a1e" /><Relationship Type="http://schemas.openxmlformats.org/officeDocument/2006/relationships/image" Target="/ppt/media/image.png" Id="Re2148b54ba274a18" /><Relationship Type="http://schemas.openxmlformats.org/officeDocument/2006/relationships/notesSlide" Target="/ppt/notesSlides/notesSlide1.xml" Id="R0833363f389e4c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09317e25646d5" /><Relationship Type="http://schemas.openxmlformats.org/officeDocument/2006/relationships/notesSlide" Target="/ppt/notesSlides/notesSlide2.xml" Id="Rb969bfac87744d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54867dd9a4a57" /><Relationship Type="http://schemas.openxmlformats.org/officeDocument/2006/relationships/notesSlide" Target="/ppt/notesSlides/notesSlide3.xml" Id="Rbe049e1cee8545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f95762ddc467a" /><Relationship Type="http://schemas.openxmlformats.org/officeDocument/2006/relationships/notesSlide" Target="/ppt/notesSlides/notesSlide4.xml" Id="R0b1afb64320a43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cae53f477409b" /><Relationship Type="http://schemas.openxmlformats.org/officeDocument/2006/relationships/notesSlide" Target="/ppt/notesSlides/notesSlide5.xml" Id="R603cd088271340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bf23552654356" /><Relationship Type="http://schemas.openxmlformats.org/officeDocument/2006/relationships/notesSlide" Target="/ppt/notesSlides/notesSlide6.xml" Id="Rc322c94419ba46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803ed728a431c" /><Relationship Type="http://schemas.openxmlformats.org/officeDocument/2006/relationships/image" Target="/ppt/media/image2.png" Id="R0b8bfa5a93364891" /><Relationship Type="http://schemas.openxmlformats.org/officeDocument/2006/relationships/notesSlide" Target="/ppt/notesSlides/notesSlide7.xml" Id="Rdd1eb39debad4b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48b54ba274a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43FBF-0D75-4137-83D5-973AD313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905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272E-C394-4F34-A32B-1ABF99D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28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PRIVACY FOR BROWSER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456E5-FF3E-46F0-9CFD-7DD618D6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4813" cy="452438"/>
          </a:xfrm>
          <a:prstGeom xmlns:a="http://schemas.openxmlformats.org/drawingml/2006/main" prst="roundRect">
            <a:avLst>
              <a:gd name="adj" fmla="val 1411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02B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E3910-FFC4-421E-87A2-6B97D5BD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4" y="16668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5150"/>
          </a:bodyPr>
          <a:lstStyle xmlns:a="http://schemas.openxmlformats.org/drawingml/2006/main"/>
          <a:p xmlns:a="http://schemas.openxmlformats.org/drawingml/2006/main">
            <a:pPr algn="ctr">
              <a:defRPr sz="1594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594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4CA6D-A798-4AF9-BE29-8560638F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85900"/>
            <a:ext cx="666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540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3A3BF-A5BF-471E-92BF-384D43FD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A privacy shield for AI-powered browser assistance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C9BA2-23D2-4D2F-9691-00F7758A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2291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251EF-B82A-4655-B8F7-5CCFB59C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As AI assistants work inside browsers, private information visible on a webpage can become part of AI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41C78-6D4C-4DCF-8908-B261CDD8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SIH 2026  ·  ISRO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84E18-A082-4DEC-9885-5484541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SIH26171  ·  On-device Visual Perception for Light-weight Browser Agents</a:t>
            </a:r>
          </a:p>
        </p:txBody>
      </p:sp>
    </p:spTree>
    <p:extLst>
      <p:ext uri="{BB962C8B-B14F-4D97-AF65-F5344CB8AC3E}">
        <p14:creationId xmlns:p14="http://schemas.microsoft.com/office/powerpoint/2010/main" val="100460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B759E-096C-4BE6-83B9-009892D6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5EEAE-5AC9-42BA-BEC2-815BF2D4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AI is moving from chat to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66F88-8898-46BF-AA3F-470D0D12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Browser assistants can understand the page a user is viewing.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2C71C-E86F-4F53-A158-30E933CD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D8699-4F40-4C80-8FB6-6121FFD5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980BE-87AF-4EFD-B288-E52FA632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Chatbots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78B6C-1471-4E08-A0F4-3C4F60BA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Answer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33C85-2640-4D7A-85E0-C7742E7F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08E3C-8B2F-427A-9688-C4766C3F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A4528-0A7F-4C74-A438-E161F3BF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F5D78-6974-4415-AB04-91147CB9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AI copilots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F0D3E-52D4-49BA-8E91-240DE621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Work beside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99FC1-2890-490B-BE63-B59FF508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3840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B28ED-38D4-4625-BC45-F138D3C9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B1EDE-D2CF-4206-B64C-7A0395E8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4C7CF-9035-45D7-A54C-59FBFD6A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AI-first browsers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97B8C-6503-44CA-9110-71B64818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Understand tabs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1358A-C6E6-40C5-9982-4C625094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D3EE0-D1CC-4D3B-A6F6-3D3D893D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77612-6BD0-4F98-8AFD-E9A752A9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102B2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8E2DB-0AD7-4CDA-A4A5-FB5F4153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 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285D9-9693-4BC8-BEC7-9010FA86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FE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CEFED"/>
                </a:solidFill>
                <a:latin typeface="Aptos"/>
                <a:ea typeface="Aptos"/>
                <a:cs typeface="Aptos"/>
              </a:rPr>
              <a:t>Act on webpages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9F8FA-30D5-40EC-A4C8-CB7F18E0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Evidence of growing browser-agent adoption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10820400" cy="2076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375"/>
                <a:gridCol w="3238500"/>
                <a:gridCol w="2857500"/>
                <a:gridCol w="2486025"/>
              </a:tblGrid>
              <a:tr h="41529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Product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availability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Public adoption metric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Claude in Chrome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Paid plans and Chrome side-panel beta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Anthropic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Perplexity Comet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Mac, Windows, iOS and Android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ChatGPT browser workflows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Availability varies by product and plan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OpenAI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Google Project Mariner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Research prototype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Google DeepMind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2472B-BCB3-45BB-A23D-FCFFC93C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Useful assistants read page context. PrivatePilot focuses on the privacy of that context.</a:t>
            </a:r>
          </a:p>
        </p:txBody>
      </p:sp>
    </p:spTree>
    <p:extLst>
      <p:ext uri="{BB962C8B-B14F-4D97-AF65-F5344CB8AC3E}">
        <p14:creationId xmlns:p14="http://schemas.microsoft.com/office/powerpoint/2010/main" val="669844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826DB-CF78-41BA-AF1D-5FD00080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D65F9-461C-47C0-99C4-4C40FE4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Helpful browser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FAF5B-C5BD-4265-94CC-6713A037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 browser assistant can work with the active page without manual copy and paste.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E4B10-F075-4676-A59B-A758F33A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BA120-2CA7-416A-8107-D552F2B0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37235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18307-6066-4802-BDC4-E5D092F4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3723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1C070-D0D4-4F78-A017-0E5BEC3A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2835"/>
          </a:solidFill>
          <a:ln xmlns:a="http://schemas.openxmlformats.org/drawingml/2006/main" w="0">
            <a:solidFill>
              <a:srgbClr val="70283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1F0D8-E77B-4737-BBA6-9EC00AFB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652D"/>
          </a:solidFill>
          <a:ln xmlns:a="http://schemas.openxmlformats.org/drawingml/2006/main" w="0">
            <a:solidFill>
              <a:srgbClr val="C765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46C12-F080-4D4A-B3C8-AFB1DFD7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05032-2821-47A4-BC91-F66BC07F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 long public article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7CF06-56DC-48B0-ABC8-E600316B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How AI browsers are changing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4E831-136C-44C3-B722-80FF9311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F010C-4FA6-4D39-88DA-EB8780C7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94446-4915-438B-BD14-002B2F55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C82C9-125C-41D1-A495-E10B06EA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E0707-D9D4-4061-BF5D-579CDCDE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5F031-44A8-4A89-8E85-085C88FF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1E5A0-C657-4439-A6CA-4DECA87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162300" cy="3790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102B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4556E-700B-445B-95B6-0F4D8881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D6D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8D6D1"/>
                </a:solidFill>
                <a:latin typeface="Aptos"/>
                <a:ea typeface="Aptos"/>
                <a:cs typeface="Aptos"/>
              </a:rPr>
              <a:t>COMET ASSISTANT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7F1A8-F7CA-47CA-A240-0E21B50E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6702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25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Summarise this page in three points.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B7BAA-3C9C-40F2-9243-10E2FF2A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5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CEFE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CEFED"/>
                </a:solidFill>
                <a:latin typeface="Aptos"/>
                <a:ea typeface="Aptos"/>
                <a:cs typeface="Aptos"/>
              </a:rPr>
              <a:t>The assistant reads the active article and returns a short summary.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B864A-8C18-41F3-9067-4BAFE4E0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48250"/>
            <a:ext cx="1771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25"/>
                </a:solidFill>
                <a:latin typeface="Aptos"/>
                <a:ea typeface="Aptos"/>
                <a:cs typeface="Aptos"/>
              </a:rPr>
              <a:t>ASK COMET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4A8F0-FDF9-4A47-BA33-041BB7F5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476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DEMONSTRATION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295AE-A98E-41A1-8EAF-5AD32389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0198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Open Comet, visit a long public article, then ask for a three-point summary.</a:t>
            </a:r>
          </a:p>
        </p:txBody>
      </p:sp>
    </p:spTree>
    <p:extLst>
      <p:ext uri="{BB962C8B-B14F-4D97-AF65-F5344CB8AC3E}">
        <p14:creationId xmlns:p14="http://schemas.microsoft.com/office/powerpoint/2010/main" val="1184695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9B90ED-7578-4DD3-AF58-FB31B3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DD17B-1FE2-471B-A245-489F2093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When helpful context becomes sensitive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86D31-14C0-409A-9FFD-76E6ACC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The demonstration uses an authenticated dashboard and fictional data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F4862-4175-44BB-A9DF-F9C506BA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F4DE2-F751-4F99-A7D6-17079851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6197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7B2EB-C755-4E57-88D5-3B2CB796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619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13BBE-B1B4-4FF6-BBC3-37B68C07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2835"/>
          </a:solidFill>
          <a:ln xmlns:a="http://schemas.openxmlformats.org/drawingml/2006/main" w="0">
            <a:solidFill>
              <a:srgbClr val="70283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30D69-CF58-4305-AC31-192BD3C9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652D"/>
          </a:solidFill>
          <a:ln xmlns:a="http://schemas.openxmlformats.org/drawingml/2006/main" w="0">
            <a:solidFill>
              <a:srgbClr val="C765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386CA-A865-4C36-A671-068F877A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8403C-22EA-44DF-A336-D0BF5072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PrivatePilot Testing · Private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2F003-C97E-4CC9-B881-3A9B37AC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79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Your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1BC8F-97B0-4F6D-A913-69DA4132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Full 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E34D4-9E09-41BB-A654-FF0BF1F8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57525"/>
            <a:ext cx="2857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82857-D43A-4171-8375-F50C3F5D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Aarav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AB06C-8DE1-4745-AC71-CCE9AE67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ECFF1-4035-4E84-8488-0D98D2C7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2857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1DE14-535C-4B56-A546-925FB565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052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5819B-ABC0-4A12-B23A-291ADBC6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Demo account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0EDF4-10FA-45AC-80EE-DB973E0A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2857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9525">
            <a:solidFill>
              <a:srgbClr val="7028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18425-0E4D-4E79-845A-7A5AC8B9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67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28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2835"/>
                </a:solidFill>
                <a:latin typeface="Aptos"/>
                <a:ea typeface="Aptos"/>
                <a:cs typeface="Aptos"/>
              </a:rPr>
              <a:t>123456789012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A390D-DAE3-4F26-B212-06060A6D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Why should we hire you?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73028-A257-4FDF-86C5-3B36974F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4686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887A4-4895-4298-A638-F9DE0C65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02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I enjoy solving real problems with thoughtful technology.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7FD45-DAD1-4E89-B46A-436153F3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05250"/>
            <a:ext cx="695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70C46-A17F-4EA8-9D3D-F172CE7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240D9-0CC6-4899-B7AE-5BD27F5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57425"/>
            <a:ext cx="4095750" cy="3305175"/>
          </a:xfrm>
          <a:prstGeom xmlns:a="http://schemas.openxmlformats.org/drawingml/2006/main" prst="roundRect">
            <a:avLst>
              <a:gd name="adj" fmla="val 4611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75FDE-F511-43D0-9F91-E838ACF5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BROWSER AI ASSISTANT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6F4BA-B689-47A0-B5DA-05A156F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667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Help me answer “Why should we hire you?”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59901-1A8F-40A1-841A-3E436F39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909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When the assistant receives active-page access, the visible profile can become part of its context.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89DC21-A43F-4F6D-BB1A-ECDA31B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1965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2835"/>
          </a:solidFill>
          <a:ln xmlns:a="http://schemas.openxmlformats.org/drawingml/2006/main" w="0">
            <a:solidFill>
              <a:srgbClr val="70283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PAGE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62E55F-85CF-47B2-9D55-E88F7538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Demo flow: sign in  •  ask for writing help  •  ask “What name is visible on this page?”</a:t>
            </a:r>
          </a:p>
        </p:txBody>
      </p:sp>
    </p:spTree>
    <p:extLst>
      <p:ext uri="{BB962C8B-B14F-4D97-AF65-F5344CB8AC3E}">
        <p14:creationId xmlns:p14="http://schemas.microsoft.com/office/powerpoint/2010/main" val="1075711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404DE7-2739-45B7-BDBF-DBD673EE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85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E3C6A-9700-4690-99EE-5B297F32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PrivatePilot: privacy before AI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08A55-1440-4780-9CED-78916BFB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Local analysis creates a safe page representation before cloud reasoning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95445-E72F-4BEE-BA3B-5D7D2048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FA27C-3D91-42C0-A4BF-5E3CCB78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A2162-AF51-40D6-AFF7-BEECD524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Logged-in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webpage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56FA3-4A27-4946-B480-5DD0023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8B8F7-92C5-4037-8F35-825917BD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123F7-B83E-4B9E-B33F-12B231E6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2AC92-B9E7-4418-85E8-71B6BAF8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Local PII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F1DDB-CA0F-42E1-BA52-85B5DFDF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CCADC-9F16-4907-B5A1-BB6E4ACE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1E785-6C67-4D18-8A6E-2929BFA9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102B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01F5F-1B14-408A-93CE-7F0AF871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Redaction and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C3F73-BD1C-41D5-A463-12BF8ABD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891F0-6CF7-433C-A2B7-21D3316E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8B9CA-D553-4DC2-A412-44BE5E0C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34FEE-68A2-4D1D-8C8C-5814FF02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Safe context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to cloud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BA5CB-25A1-47A0-A2DB-9E72F16F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484F3-CCE1-4365-8D95-EF4D833F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E8C13-2101-4C4E-837E-2D261C7E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E24B6-9C50-4546-A2EB-35A50517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Helpful AI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27F18-F546-4C28-9D6A-0E4028A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Before local protection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9610C-DF1F-44B7-983C-E1B40406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0283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702835"/>
                </a:solidFill>
                <a:latin typeface="Aptos"/>
                <a:ea typeface="Aptos"/>
                <a:cs typeface="Aptos"/>
              </a:rPr>
              <a:t>Name: Adnan Khan</a:t>
            </a:r>
          </a:p>
          <a:p xmlns:a="http://schemas.openxmlformats.org/drawingml/2006/main">
            <a:pPr algn="l">
              <a:defRPr sz="1425" b="1" i="0">
                <a:solidFill>
                  <a:srgbClr val="70283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702835"/>
                </a:solidFill>
                <a:latin typeface="Aptos"/>
                <a:ea typeface="Aptos"/>
                <a:cs typeface="Aptos"/>
              </a:rPr>
              <a:t>Account: 123456789012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9A216-B904-4CBF-8FA3-4190862D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9525">
            <a:solidFill>
              <a:srgbClr val="1697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584F84-C0CE-479C-84BC-17764FA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275273" cy="307658"/>
          </a:xfrm>
          <a:prstGeom xmlns:a="http://schemas.openxmlformats.org/drawingml/2006/main" prst="roundRect">
            <a:avLst>
              <a:gd name="adj" fmla="val 2076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02B2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D6788-F7F0-4CCF-801C-0FE1B5B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174" y="414147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084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084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27ABB6-732D-4B5C-917E-76C0EFA5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95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LOCAL REDACTION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ECE29-163F-40AF-B428-863FEB67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57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TLS encrypted 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B1C46-D20C-4BED-A268-D8FC798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Safe AI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FDD24C-B412-4C25-B251-4A9D31D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Name: PERSON_1</a:t>
            </a:r>
          </a:p>
          <a:p xmlns:a="http://schemas.openxmlformats.org/drawingml/2006/main">
            <a:pPr algn="l">
              <a:defRPr sz="142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Account: ACCOUNT_1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6F9746-EACF-4E57-BDFF-D18494E8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 preserves AI usefulness while personal values remain inside the browser.</a:t>
            </a:r>
          </a:p>
        </p:txBody>
      </p:sp>
    </p:spTree>
    <p:extLst>
      <p:ext uri="{BB962C8B-B14F-4D97-AF65-F5344CB8AC3E}">
        <p14:creationId xmlns:p14="http://schemas.microsoft.com/office/powerpoint/2010/main" val="1185536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EE553-2250-46F8-A633-833417D1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208D1-725D-48E9-B2E3-28910260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Current controls do not solve the complete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A6737-4413-436F-A884-627A3840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Existing controls address parts of the risk. PrivatePilot focuses on the page context itself.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06300-4533-485E-8DD8-D3DBC694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3381375"/>
                <a:gridCol w="4867275"/>
              </a:tblGrid>
              <a:tr h="5429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it protects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Browser privacy settings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Cookies, camera, and location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Do not redact page content before AI analysis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AI-provider safety controls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Some sensitive-site safeguards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Depend on each AI provider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Enterprise DLP tools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Organisation-level data controls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Often do not target dynamic browser-agent context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B25"/>
                          </a:solidFill>
                          <a:latin typeface="Aptos"/>
                          <a:ea typeface="Aptos"/>
                          <a:cs typeface="Aptos"/>
                        </a:rPr>
                        <a:t>PrivatePilot</a:t>
                      </a:r>
                    </a:p>
                  </a:txBody>
                  <a:tcPr marL="91440" marR="91440" marT="45720" marB="45720">
                    <a:solidFill>
                      <a:srgbClr val="DC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B25"/>
                          </a:solidFill>
                          <a:latin typeface="Aptos"/>
                          <a:ea typeface="Aptos"/>
                          <a:cs typeface="Aptos"/>
                        </a:rPr>
                        <a:t>Local detection and redaction before AI receives context</a:t>
                      </a:r>
                    </a:p>
                  </a:txBody>
                  <a:tcPr marL="91440" marR="91440" marT="45720" marB="45720">
                    <a:solidFill>
                      <a:srgbClr val="DC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B25"/>
                          </a:solidFill>
                          <a:latin typeface="Aptos"/>
                          <a:ea typeface="Aptos"/>
                          <a:cs typeface="Aptos"/>
                        </a:rPr>
                        <a:t>Proposed lightweight browser-agent privacy layer</a:t>
                      </a:r>
                    </a:p>
                  </a:txBody>
                  <a:tcPr marL="91440" marR="91440" marT="45720" marB="45720">
                    <a:solidFill>
                      <a:srgbClr val="DCEF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2CDE1-715F-448F-BA7E-EED0949F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Existing protections are fragmented.</a:t>
            </a:r>
          </a:p>
          <a:p xmlns:a="http://schemas.openxmlformats.org/drawingml/2006/main">
            <a:pPr algn="ctr">
              <a:defRPr sz="16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 focuses on dynamic private data visible to browser AI agents.</a:t>
            </a:r>
          </a:p>
        </p:txBody>
      </p:sp>
    </p:spTree>
    <p:extLst>
      <p:ext uri="{BB962C8B-B14F-4D97-AF65-F5344CB8AC3E}">
        <p14:creationId xmlns:p14="http://schemas.microsoft.com/office/powerpoint/2010/main" val="1484580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bfa5a9336489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5F97D-876E-4533-9840-9E623E62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6096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0E8BB-8FB0-4178-88D4-53B479C9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372427" cy="416242"/>
          </a:xfrm>
          <a:prstGeom xmlns:a="http://schemas.openxmlformats.org/drawingml/2006/main" prst="roundRect">
            <a:avLst>
              <a:gd name="adj" fmla="val 15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02B2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C2FB0-B01B-44F9-96ED-25B10C82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76" y="119253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912"/>
          </a:bodyPr>
          <a:lstStyle xmlns:a="http://schemas.openxmlformats.org/drawingml/2006/main"/>
          <a:p xmlns:a="http://schemas.openxmlformats.org/drawingml/2006/main">
            <a:pPr algn="ctr">
              <a:defRPr sz="1466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466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9DE90-FCC1-480A-BD95-6574CF6B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57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71"/>
          </a:bodyPr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52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D1F31-2333-465A-8C7D-7ED2C4DA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Helpful AI should not require exposing private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953D6-2ECD-482D-9ACB-20BE71E8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752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B54CF-DB65-4A69-AFFB-A695B98E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40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86B0E-4AAD-488F-9D84-581231E0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447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519648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2026-09-12T06:32:06.2610000Z</dcterms:created>
  <dcterms:modified xsi:type="dcterms:W3CDTF">2026-09-12T06:32:06.2610000Z</dcterms:modified>
</coreProperties>
</file>